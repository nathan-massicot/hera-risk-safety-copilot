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FAC300"/>
          </a:solidFill>
          <a:ln w="12700">
            <a:solidFill>
              <a:srgbClr val="FAC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96596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HERA</a:t>
            </a:r>
            <a:endParaRPr lang="en-US" sz="7600" dirty="0"/>
          </a:p>
        </p:txBody>
      </p:sp>
      <p:sp>
        <p:nvSpPr>
          <p:cNvPr id="4" name="Text 2"/>
          <p:cNvSpPr/>
          <p:nvPr/>
        </p:nvSpPr>
        <p:spPr>
          <a:xfrm>
            <a:off x="548640" y="31546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Risk &amp; Safety Copilot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3730752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A2F0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Health Ethical &amp; Regulatory Assessment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4A1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Digital health · mHealth</a:t>
            </a:r>
            <a:endParaRPr lang="en-US" sz="1200" dirty="0"/>
          </a:p>
        </p:txBody>
      </p:sp>
      <p:pic>
        <p:nvPicPr>
          <p:cNvPr id="7" name="Image 0" descr="/sessions/cool-gracious-goodall/mnt/outputs/hera_pres/bf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7035" y="502920"/>
            <a:ext cx="3288411" cy="1143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800600" y="233172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A conversational copilot that helps health-app developers identify ethical and regulatory risks — and address them early.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800600" y="4069080"/>
            <a:ext cx="6766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Nathan Massicot</a:t>
            </a:r>
            <a:endParaRPr lang="en-US" sz="16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MSE Data Science — Berner Fachhochschule (BFH)</a:t>
            </a:r>
            <a:endParaRPr lang="en-US" sz="16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Supervisor: Prof. Dr. Kerstin Denecke</a:t>
            </a:r>
            <a:endParaRPr lang="en-US" sz="16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Specialisation Project 2 · June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55448" cy="155448"/>
          </a:xfrm>
          <a:prstGeom prst="rect">
            <a:avLst/>
          </a:prstGeom>
          <a:solidFill>
            <a:srgbClr val="FAC300"/>
          </a:solidFill>
          <a:ln w="12700">
            <a:solidFill>
              <a:srgbClr val="FAC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310896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A health app must navigate dozens of regulations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4937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700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The moment an app touches health, it enters a maze of frameworks: data protection, medical devices, artificial intelligence, accessibility…</a:t>
            </a:r>
            <a:endParaRPr lang="en-US" sz="1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These frameworks overlap, change fast, and differ from one country to the next (EU, Switzerland, UK…).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4617720"/>
            <a:ext cx="4937760" cy="1417320"/>
          </a:xfrm>
          <a:prstGeom prst="roundRect">
            <a:avLst>
              <a:gd name="adj" fmla="val 6452"/>
            </a:avLst>
          </a:prstGeom>
          <a:solidFill>
            <a:srgbClr val="EEF1F4"/>
          </a:solidFill>
          <a:ln w="12700">
            <a:solidFill>
              <a:srgbClr val="E0E4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4663440"/>
            <a:ext cx="1554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B41428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10+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2331720" y="4663440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regulatory frameworks may apply to a single health app</a:t>
            </a:r>
            <a:endParaRPr lang="en-US" sz="1500" dirty="0"/>
          </a:p>
        </p:txBody>
      </p:sp>
      <p:pic>
        <p:nvPicPr>
          <p:cNvPr id="8" name="Image 0" descr="/sessions/cool-gracious-goodall/mnt/outputs/hera_pres/complex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33315"/>
            <a:ext cx="5852160" cy="341432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HERA · Risk &amp; Safety Copilot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55448" cy="155448"/>
          </a:xfrm>
          <a:prstGeom prst="rect">
            <a:avLst/>
          </a:prstGeom>
          <a:solidFill>
            <a:srgbClr val="FAC300"/>
          </a:solidFill>
          <a:ln w="12700">
            <a:solidFill>
              <a:srgbClr val="FAC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310896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And these risks are often spotted too late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11296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08760"/>
            <a:ext cx="3511296" cy="146304"/>
          </a:xfrm>
          <a:prstGeom prst="rect">
            <a:avLst/>
          </a:prstGeom>
          <a:solidFill>
            <a:srgbClr val="506E96"/>
          </a:solidFill>
          <a:ln w="12700">
            <a:solidFill>
              <a:srgbClr val="506E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65960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506E9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No expertise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296265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Developers are neither lawyers nor ethicists: it's hard to know what actually applies.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4325112" y="1508760"/>
            <a:ext cx="3511296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25112" y="1508760"/>
            <a:ext cx="3511296" cy="146304"/>
          </a:xfrm>
          <a:prstGeom prst="rect">
            <a:avLst/>
          </a:prstGeom>
          <a:solidFill>
            <a:srgbClr val="B41428"/>
          </a:solidFill>
          <a:ln w="12700">
            <a:solidFill>
              <a:srgbClr val="B414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1965960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B41428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Too late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599432" y="2743200"/>
            <a:ext cx="296265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Risks surface after launch — costly to fix, and sometimes dangerous for patients.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101584" y="1508760"/>
            <a:ext cx="3511296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01584" y="1508760"/>
            <a:ext cx="3511296" cy="146304"/>
          </a:xfrm>
          <a:prstGeom prst="rect">
            <a:avLst/>
          </a:prstGeom>
          <a:solidFill>
            <a:srgbClr val="697D91"/>
          </a:solidFill>
          <a:ln w="12700">
            <a:solidFill>
              <a:srgbClr val="697D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75904" y="1965960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697D91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No tool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375904" y="2743200"/>
            <a:ext cx="296265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No tool guides the thinking upfront, in a structured and complete way.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548640" y="5532120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EEF1F4"/>
          </a:solidFill>
          <a:ln w="12700">
            <a:solidFill>
              <a:srgbClr val="E0E4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532120"/>
            <a:ext cx="11091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41428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→  </a:t>
            </a:r>
            <a:pPr algn="ctr" indent="0" marL="0">
              <a:buNone/>
            </a:pPr>
            <a:r>
              <a:rPr lang="en-US" sz="17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Hence a copilot that asks the right questions, right from the design stage.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HERA · Risk &amp; Safety Copilot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55448" cy="155448"/>
          </a:xfrm>
          <a:prstGeom prst="rect">
            <a:avLst/>
          </a:prstGeom>
          <a:solidFill>
            <a:srgbClr val="FAC300"/>
          </a:solidFill>
          <a:ln w="12700">
            <a:solidFill>
              <a:srgbClr val="FAC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310896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Agenda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371600" y="1554480"/>
            <a:ext cx="6583680" cy="841248"/>
          </a:xfrm>
          <a:prstGeom prst="roundRect">
            <a:avLst>
              <a:gd name="adj" fmla="val 10870"/>
            </a:avLst>
          </a:prstGeom>
          <a:solidFill>
            <a:srgbClr val="EEF1F4"/>
          </a:solidFill>
          <a:ln w="12700">
            <a:solidFill>
              <a:srgbClr val="E0E4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72768" y="1682496"/>
            <a:ext cx="585216" cy="585216"/>
          </a:xfrm>
          <a:prstGeom prst="ellipse">
            <a:avLst/>
          </a:prstGeom>
          <a:solidFill>
            <a:srgbClr val="506E96"/>
          </a:solidFill>
          <a:ln w="12700">
            <a:solidFill>
              <a:srgbClr val="506E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72768" y="168249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423160" y="1554480"/>
            <a:ext cx="5394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371600" y="2523744"/>
            <a:ext cx="7086600" cy="841248"/>
          </a:xfrm>
          <a:prstGeom prst="roundRect">
            <a:avLst>
              <a:gd name="adj" fmla="val 10870"/>
            </a:avLst>
          </a:prstGeom>
          <a:solidFill>
            <a:srgbClr val="EEF1F4"/>
          </a:solidFill>
          <a:ln w="12700">
            <a:solidFill>
              <a:srgbClr val="E0E4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72768" y="2651760"/>
            <a:ext cx="585216" cy="585216"/>
          </a:xfrm>
          <a:prstGeom prst="ellipse">
            <a:avLst/>
          </a:prstGeom>
          <a:solidFill>
            <a:srgbClr val="556455"/>
          </a:solidFill>
          <a:ln w="12700">
            <a:solidFill>
              <a:srgbClr val="5564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72768" y="26517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423160" y="2523744"/>
            <a:ext cx="5897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HERA — why &amp; how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371600" y="3493008"/>
            <a:ext cx="7589520" cy="841248"/>
          </a:xfrm>
          <a:prstGeom prst="roundRect">
            <a:avLst>
              <a:gd name="adj" fmla="val 10870"/>
            </a:avLst>
          </a:prstGeom>
          <a:solidFill>
            <a:srgbClr val="EEF1F4"/>
          </a:solidFill>
          <a:ln w="12700">
            <a:solidFill>
              <a:srgbClr val="E0E4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72768" y="3621024"/>
            <a:ext cx="585216" cy="585216"/>
          </a:xfrm>
          <a:prstGeom prst="ellipse">
            <a:avLst/>
          </a:prstGeom>
          <a:solidFill>
            <a:srgbClr val="B41428"/>
          </a:solidFill>
          <a:ln w="12700">
            <a:solidFill>
              <a:srgbClr val="B414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72768" y="362102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423160" y="3493008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Approaches, tests &amp; results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371600" y="4462272"/>
            <a:ext cx="8092440" cy="841248"/>
          </a:xfrm>
          <a:prstGeom prst="roundRect">
            <a:avLst>
              <a:gd name="adj" fmla="val 10870"/>
            </a:avLst>
          </a:prstGeom>
          <a:solidFill>
            <a:srgbClr val="EEF1F4"/>
          </a:solidFill>
          <a:ln w="12700">
            <a:solidFill>
              <a:srgbClr val="E0E4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72768" y="4590288"/>
            <a:ext cx="585216" cy="585216"/>
          </a:xfrm>
          <a:prstGeom prst="ellipse">
            <a:avLst/>
          </a:prstGeom>
          <a:solidFill>
            <a:srgbClr val="645078"/>
          </a:solidFill>
          <a:ln w="12700">
            <a:solidFill>
              <a:srgbClr val="6450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72768" y="459028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2423160" y="4462272"/>
            <a:ext cx="6903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What we kept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371600" y="5431536"/>
            <a:ext cx="8595360" cy="841248"/>
          </a:xfrm>
          <a:prstGeom prst="roundRect">
            <a:avLst>
              <a:gd name="adj" fmla="val 10870"/>
            </a:avLst>
          </a:prstGeom>
          <a:solidFill>
            <a:srgbClr val="EEF1F4"/>
          </a:solidFill>
          <a:ln w="12700">
            <a:solidFill>
              <a:srgbClr val="E0E4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72768" y="5559552"/>
            <a:ext cx="585216" cy="585216"/>
          </a:xfrm>
          <a:prstGeom prst="ellipse">
            <a:avLst/>
          </a:prstGeom>
          <a:solidFill>
            <a:srgbClr val="697D91"/>
          </a:solidFill>
          <a:ln w="12700">
            <a:solidFill>
              <a:srgbClr val="697D9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72768" y="55595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5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2423160" y="5431536"/>
            <a:ext cx="7406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Demo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HERA · Risk &amp; Safety Copilot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55448" cy="155448"/>
          </a:xfrm>
          <a:prstGeom prst="rect">
            <a:avLst/>
          </a:prstGeom>
          <a:solidFill>
            <a:srgbClr val="FAC300"/>
          </a:solidFill>
          <a:ln w="12700">
            <a:solidFill>
              <a:srgbClr val="FAC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310896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HERA — why a new taxonomy?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41248" y="102412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41428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HERA</a:t>
            </a:r>
            <a:pPr algn="l" indent="0" marL="0">
              <a:buNone/>
            </a:pPr>
            <a:r>
              <a:rPr lang="en-US" sz="16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 = Health Ethical &amp; Regulatory Assessment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486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The right frameworks already exist</a:t>
            </a:r>
            <a:endParaRPr lang="en-US" sz="1800" dirty="0"/>
          </a:p>
          <a:p>
            <a:pPr algn="l" indent="0" marL="0">
              <a:lnSpc>
                <a:spcPct val="118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…but they're scattered and written for experts. None is designed to guide a health-app developer, step by step.</a:t>
            </a:r>
            <a:endParaRPr lang="en-US" sz="1800" dirty="0"/>
          </a:p>
          <a:p>
            <a:pPr algn="l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B41428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Our answer: HERA</a:t>
            </a:r>
            <a:endParaRPr lang="en-US" sz="1800" dirty="0"/>
          </a:p>
          <a:p>
            <a:pPr algn="l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A taxonomy that merges 8+ frameworks into a single, clear and actionable structure — with or without AI.</a:t>
            </a:r>
            <a:endParaRPr lang="en-US" sz="1800" dirty="0"/>
          </a:p>
        </p:txBody>
      </p:sp>
      <p:pic>
        <p:nvPicPr>
          <p:cNvPr id="6" name="Image 0" descr="/sessions/cool-gracious-goodall/mnt/outputs/hera_pres/fu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2035743"/>
            <a:ext cx="5486400" cy="36094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44068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Inspired by </a:t>
            </a:r>
            <a:pPr algn="l" indent="0" marL="0">
              <a:lnSpc>
                <a:spcPct val="110000"/>
              </a:lnSpc>
              <a:buNone/>
            </a:pPr>
            <a:r>
              <a:rPr lang="en-US" sz="1300" b="1" i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Deng, Viganò &amp; Hauser (2025)</a:t>
            </a:r>
            <a:pPr algn="l"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: we adapt their structured-taxonomy idea (HIEDE, finance) to organise health risks → HERA.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HERA · Risk &amp; Safety Copilot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55448" cy="155448"/>
          </a:xfrm>
          <a:prstGeom prst="rect">
            <a:avLst/>
          </a:prstGeom>
          <a:solidFill>
            <a:srgbClr val="FAC300"/>
          </a:solidFill>
          <a:ln w="12700">
            <a:solidFill>
              <a:srgbClr val="FAC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310896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HERA — how it works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91440" cy="1143000"/>
          </a:xfrm>
          <a:prstGeom prst="rect">
            <a:avLst/>
          </a:prstGeom>
          <a:solidFill>
            <a:srgbClr val="B41428"/>
          </a:solidFill>
          <a:ln w="12700">
            <a:solidFill>
              <a:srgbClr val="B414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630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7 pillars, 37 dimensions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77240" y="1938528"/>
            <a:ext cx="612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patient safety, data &amp; privacy, autonomy, quality, transparency, equity, and regulatory compliance.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48640" y="2990088"/>
            <a:ext cx="91440" cy="1143000"/>
          </a:xfrm>
          <a:prstGeom prst="rect">
            <a:avLst/>
          </a:prstGeom>
          <a:solidFill>
            <a:srgbClr val="B41428"/>
          </a:solidFill>
          <a:ln w="12700">
            <a:solidFill>
              <a:srgbClr val="B414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94436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For each dimension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77240" y="3419856"/>
            <a:ext cx="612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reflection questions, the typical risks, and concrete mitigation ideas.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4471416"/>
            <a:ext cx="91440" cy="1143000"/>
          </a:xfrm>
          <a:prstGeom prst="rect">
            <a:avLst/>
          </a:prstGeom>
          <a:solidFill>
            <a:srgbClr val="B41428"/>
          </a:solidFill>
          <a:ln w="12700">
            <a:solidFill>
              <a:srgbClr val="B414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425696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A guided conversation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77240" y="4901184"/>
            <a:ext cx="612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the copilot asks one question at a time, listens, digs deeper, then generates a structured risk report.</a:t>
            </a:r>
            <a:endParaRPr lang="en-US" sz="1550" dirty="0"/>
          </a:p>
        </p:txBody>
      </p:sp>
      <p:pic>
        <p:nvPicPr>
          <p:cNvPr id="13" name="Image 0" descr="/sessions/cool-gracious-goodall/mnt/outputs/hera_pres/pilla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7126" y="914400"/>
            <a:ext cx="4619549" cy="5486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HERA · Risk &amp; Safety Copilot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55448" cy="155448"/>
          </a:xfrm>
          <a:prstGeom prst="rect">
            <a:avLst/>
          </a:prstGeom>
          <a:solidFill>
            <a:srgbClr val="FAC300"/>
          </a:solidFill>
          <a:ln w="12700">
            <a:solidFill>
              <a:srgbClr val="FAC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310896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Four ways to build the copilot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41248" y="102412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Same HERA taxonomy, same small local model — four architectures compared.</a:t>
            </a:r>
            <a:endParaRPr lang="en-US" sz="1500" dirty="0"/>
          </a:p>
        </p:txBody>
      </p:sp>
      <p:pic>
        <p:nvPicPr>
          <p:cNvPr id="5" name="Image 0" descr="/sessions/cool-gracious-goodall/mnt/outputs/hera_pres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0980" y="1508760"/>
            <a:ext cx="8766993" cy="4846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HERA · Risk &amp; Safety Copilot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55448" cy="155448"/>
          </a:xfrm>
          <a:prstGeom prst="rect">
            <a:avLst/>
          </a:prstGeom>
          <a:solidFill>
            <a:srgbClr val="FAC300"/>
          </a:solidFill>
          <a:ln w="12700">
            <a:solidFill>
              <a:srgbClr val="FAC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310896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How we compared the approaches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70048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99616" y="2148840"/>
            <a:ext cx="768096" cy="768096"/>
          </a:xfrm>
          <a:prstGeom prst="ellipse">
            <a:avLst/>
          </a:prstGeom>
          <a:solidFill>
            <a:srgbClr val="506E96"/>
          </a:solidFill>
          <a:ln w="12700">
            <a:solidFill>
              <a:srgbClr val="506E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99616" y="214884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58368" y="3108960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506E9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25 scenarios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49808" y="3611880"/>
            <a:ext cx="22677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realistic health apps, each with a hand-written « gold answer ».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182112" y="1828800"/>
            <a:ext cx="2377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97D91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83280" y="1828800"/>
            <a:ext cx="2670048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34256" y="2148840"/>
            <a:ext cx="768096" cy="768096"/>
          </a:xfrm>
          <a:prstGeom prst="ellipse">
            <a:avLst/>
          </a:prstGeom>
          <a:solidFill>
            <a:srgbClr val="556455"/>
          </a:solidFill>
          <a:ln w="12700">
            <a:solidFill>
              <a:srgbClr val="5564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34256" y="214884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493008" y="3108960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55645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Simulated developer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584448" y="3611880"/>
            <a:ext cx="22677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answers identically for every approach → fair comparison.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016752" y="1828800"/>
            <a:ext cx="2377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97D91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17920" y="1828800"/>
            <a:ext cx="2670048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68896" y="2148840"/>
            <a:ext cx="768096" cy="768096"/>
          </a:xfrm>
          <a:prstGeom prst="ellipse">
            <a:avLst/>
          </a:prstGeom>
          <a:solidFill>
            <a:srgbClr val="645078"/>
          </a:solidFill>
          <a:ln w="12700">
            <a:solidFill>
              <a:srgbClr val="6450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68896" y="214884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327648" y="3108960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645078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Auto metrics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419088" y="3611880"/>
            <a:ext cx="22677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dimension coverage, risk accuracy, latency.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851392" y="1828800"/>
            <a:ext cx="2377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97D91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052560" y="1828800"/>
            <a:ext cx="2670048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003536" y="2148840"/>
            <a:ext cx="768096" cy="768096"/>
          </a:xfrm>
          <a:prstGeom prst="ellipse">
            <a:avLst/>
          </a:prstGeom>
          <a:solidFill>
            <a:srgbClr val="B41428"/>
          </a:solidFill>
          <a:ln w="12700">
            <a:solidFill>
              <a:srgbClr val="B414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03536" y="214884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4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9162288" y="3108960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B41428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AI judge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9253728" y="3611880"/>
            <a:ext cx="22677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rates the depth and actionability of answers (1–5).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5349240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EEF1F4"/>
          </a:solidFill>
          <a:ln w="12700">
            <a:solidFill>
              <a:srgbClr val="E0E4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5349240"/>
            <a:ext cx="11091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Principle: </a:t>
            </a:r>
            <a:pPr algn="ctr"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every approach gets exactly the same inputs — we only compare how they reason.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HERA · Risk &amp; Safety Copilot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55448" cy="155448"/>
          </a:xfrm>
          <a:prstGeom prst="rect">
            <a:avLst/>
          </a:prstGeom>
          <a:solidFill>
            <a:srgbClr val="FAC300"/>
          </a:solidFill>
          <a:ln w="12700">
            <a:solidFill>
              <a:srgbClr val="FAC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310896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Results: RAG wins, fine-tuning collapses</a:t>
            </a:r>
            <a:endParaRPr lang="en-US" sz="2500" dirty="0"/>
          </a:p>
        </p:txBody>
      </p:sp>
      <p:pic>
        <p:nvPicPr>
          <p:cNvPr id="4" name="Image 0" descr="/sessions/cool-gracious-goodall/mnt/outputs/hera_pres/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150156"/>
            <a:ext cx="7772400" cy="328920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58200" y="1417320"/>
            <a:ext cx="32004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458200" y="1417320"/>
            <a:ext cx="109728" cy="1508760"/>
          </a:xfrm>
          <a:prstGeom prst="rect">
            <a:avLst/>
          </a:prstGeom>
          <a:solidFill>
            <a:srgbClr val="B41428"/>
          </a:solidFill>
          <a:ln w="12700">
            <a:solidFill>
              <a:srgbClr val="B4142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714232" y="156362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41428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RAG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714232" y="2020824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best depth (3.0/5) and best coverage (36%).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458200" y="3090672"/>
            <a:ext cx="32004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458200" y="3090672"/>
            <a:ext cx="109728" cy="1508760"/>
          </a:xfrm>
          <a:prstGeom prst="rect">
            <a:avLst/>
          </a:prstGeom>
          <a:solidFill>
            <a:srgbClr val="786450"/>
          </a:solidFill>
          <a:ln w="12700">
            <a:solidFill>
              <a:srgbClr val="78645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14232" y="3236976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8645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Fine-tuned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714232" y="3694176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collapses: repeats the same questions, invents references.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458200" y="4764024"/>
            <a:ext cx="32004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458200" y="4764024"/>
            <a:ext cx="109728" cy="1508760"/>
          </a:xfrm>
          <a:prstGeom prst="rect">
            <a:avLst/>
          </a:prstGeom>
          <a:solidFill>
            <a:srgbClr val="697D91"/>
          </a:solidFill>
          <a:ln w="12700">
            <a:solidFill>
              <a:srgbClr val="697D9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714232" y="491032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97D91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Prompt-only / RLM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714232" y="536752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prompt-only fast and solid; multi-agent 2× slower, no clear gain.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HERA · Risk &amp; Safety Copilot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55448" cy="155448"/>
          </a:xfrm>
          <a:prstGeom prst="rect">
            <a:avLst/>
          </a:prstGeom>
          <a:solidFill>
            <a:srgbClr val="FAC300"/>
          </a:solidFill>
          <a:ln w="12700">
            <a:solidFill>
              <a:srgbClr val="FAC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310896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What we kept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11296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08760"/>
            <a:ext cx="3511296" cy="146304"/>
          </a:xfrm>
          <a:prstGeom prst="rect">
            <a:avLst/>
          </a:prstGeom>
          <a:solidFill>
            <a:srgbClr val="B41428"/>
          </a:solidFill>
          <a:ln w="12700">
            <a:solidFill>
              <a:srgbClr val="B414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65960"/>
            <a:ext cx="2962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41428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The RAG copilot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2962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the best quality; it grounds answers in the regulatory texts. Prompt-only as a fast fallback.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4325112" y="1508760"/>
            <a:ext cx="3511296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25112" y="1508760"/>
            <a:ext cx="3511296" cy="146304"/>
          </a:xfrm>
          <a:prstGeom prst="rect">
            <a:avLst/>
          </a:prstGeom>
          <a:solidFill>
            <a:srgbClr val="506E96"/>
          </a:solidFill>
          <a:ln w="12700">
            <a:solidFill>
              <a:srgbClr val="506E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1965960"/>
            <a:ext cx="2962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506E9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A 3-page web app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99432" y="2880360"/>
            <a:ext cx="2962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app profile (onboarding), interactive regulation diagram, and HERA chatbot.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101584" y="1508760"/>
            <a:ext cx="3511296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01584" y="1508760"/>
            <a:ext cx="3511296" cy="146304"/>
          </a:xfrm>
          <a:prstGeom prst="rect">
            <a:avLst/>
          </a:prstGeom>
          <a:solidFill>
            <a:srgbClr val="556455"/>
          </a:solidFill>
          <a:ln w="12700">
            <a:solidFill>
              <a:srgbClr val="5564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75904" y="1965960"/>
            <a:ext cx="2962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55645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100% local &amp; private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375904" y="2880360"/>
            <a:ext cx="2962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the model runs locally via Ollama; no data sent to any external service.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548640" y="5532120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EEF1F4"/>
          </a:solidFill>
          <a:ln w="12700">
            <a:solidFill>
              <a:srgbClr val="E0E4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532120"/>
            <a:ext cx="11091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1428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Dropped: </a:t>
            </a:r>
            <a:pPr algn="ctr" indent="0" marL="0">
              <a:buNone/>
            </a:pPr>
            <a:r>
              <a:rPr lang="en-US" sz="1600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fine-tuning alone (too little data) and the multi-agent setup (too slow for the gain).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HERA · Risk &amp; Safety Copilot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FAC300"/>
          </a:solidFill>
          <a:ln w="12700">
            <a:solidFill>
              <a:srgbClr val="FAC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6517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Demo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800600" y="14173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The HERA copilot in action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800600" y="2377440"/>
            <a:ext cx="713232" cy="713232"/>
          </a:xfrm>
          <a:prstGeom prst="ellipse">
            <a:avLst/>
          </a:prstGeom>
          <a:solidFill>
            <a:srgbClr val="506E96"/>
          </a:solidFill>
          <a:ln w="12700">
            <a:solidFill>
              <a:srgbClr val="506E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00600" y="237744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715000" y="2377440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Onboarding  </a:t>
            </a:r>
            <a:pPr algn="l" indent="0" marL="0">
              <a:buNone/>
            </a:pPr>
            <a:r>
              <a:rPr lang="en-US" sz="1700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— describe the health app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800600" y="3456432"/>
            <a:ext cx="713232" cy="713232"/>
          </a:xfrm>
          <a:prstGeom prst="ellipse">
            <a:avLst/>
          </a:prstGeom>
          <a:solidFill>
            <a:srgbClr val="556455"/>
          </a:solidFill>
          <a:ln w="12700">
            <a:solidFill>
              <a:srgbClr val="5564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345643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715000" y="345643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Guided conversation  </a:t>
            </a:r>
            <a:pPr algn="l" indent="0" marL="0">
              <a:buNone/>
            </a:pPr>
            <a:r>
              <a:rPr lang="en-US" sz="1700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— the copilot asks its questions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800600" y="4535424"/>
            <a:ext cx="713232" cy="713232"/>
          </a:xfrm>
          <a:prstGeom prst="ellipse">
            <a:avLst/>
          </a:prstGeom>
          <a:solidFill>
            <a:srgbClr val="B41428"/>
          </a:solidFill>
          <a:ln w="12700">
            <a:solidFill>
              <a:srgbClr val="B414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4535424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715000" y="4535424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Risk report  </a:t>
            </a:r>
            <a:pPr algn="l" indent="0" marL="0">
              <a:buNone/>
            </a:pPr>
            <a:r>
              <a:rPr lang="en-US" sz="1700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— summary mapped to HERA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800600" y="58064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Local web app · Mistral 7B model via Ollama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55448" cy="155448"/>
          </a:xfrm>
          <a:prstGeom prst="rect">
            <a:avLst/>
          </a:prstGeom>
          <a:solidFill>
            <a:srgbClr val="FAC300"/>
          </a:solidFill>
          <a:ln w="12700">
            <a:solidFill>
              <a:srgbClr val="FAC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310896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Key takeaways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435608"/>
            <a:ext cx="457200" cy="457200"/>
          </a:xfrm>
          <a:prstGeom prst="ellipse">
            <a:avLst/>
          </a:prstGeom>
          <a:solidFill>
            <a:srgbClr val="B41428"/>
          </a:solidFill>
          <a:ln w="12700">
            <a:solidFill>
              <a:srgbClr val="B414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41732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HERA unifies 8+ frameworks into an actionable taxonomy for digital health.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276856"/>
            <a:ext cx="457200" cy="457200"/>
          </a:xfrm>
          <a:prstGeom prst="ellipse">
            <a:avLst/>
          </a:prstGeom>
          <a:solidFill>
            <a:srgbClr val="B41428"/>
          </a:solidFill>
          <a:ln w="12700">
            <a:solidFill>
              <a:srgbClr val="B414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276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225856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A rigorous comparison of 4 approaches over 25 scenarios → RAG is the most useful.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3118104"/>
            <a:ext cx="457200" cy="457200"/>
          </a:xfrm>
          <a:prstGeom prst="ellipse">
            <a:avLst/>
          </a:prstGeom>
          <a:solidFill>
            <a:srgbClr val="B41428"/>
          </a:solidFill>
          <a:ln w="12700">
            <a:solidFill>
              <a:srgbClr val="B414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118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309981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A local, private prototype, demonstrable end to end.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10972800" cy="18288"/>
          </a:xfrm>
          <a:prstGeom prst="rect">
            <a:avLst/>
          </a:prstGeom>
          <a:solidFill>
            <a:srgbClr val="E0E4E8"/>
          </a:solidFill>
          <a:ln w="12700">
            <a:solidFill>
              <a:srgbClr val="E0E4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3891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Thank you! Questions?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40080" y="5440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Nathan Massicot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MSE Data Science, BFH  ·  Supervisor: Prof. Dr. Kerstin Denecke</a:t>
            </a:r>
            <a:endParaRPr lang="en-US" sz="1400" dirty="0"/>
          </a:p>
        </p:txBody>
      </p:sp>
      <p:pic>
        <p:nvPicPr>
          <p:cNvPr id="16" name="Image 0" descr="/sessions/cool-gracious-goodall/mnt/outputs/hera_pres/bf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3036" y="5440680"/>
            <a:ext cx="2630729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55448" cy="155448"/>
          </a:xfrm>
          <a:prstGeom prst="rect">
            <a:avLst/>
          </a:prstGeom>
          <a:solidFill>
            <a:srgbClr val="FAC300"/>
          </a:solidFill>
          <a:ln w="12700">
            <a:solidFill>
              <a:srgbClr val="FAC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310896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References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41428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Approaches &amp; models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54406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RAG</a:t>
            </a:r>
            <a:pPr algn="l" indent="0" marL="0">
              <a:lnSpc>
                <a:spcPct val="104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 — Lewis, P. et al. (2020). Retrieval-Augmented Generation for Knowledge-Intensive NLP Tasks. NeurIPS 33.</a:t>
            </a:r>
            <a:endParaRPr lang="en-US" sz="1100" dirty="0"/>
          </a:p>
          <a:p>
            <a:pPr algn="l" indent="0" marL="0">
              <a:lnSpc>
                <a:spcPct val="104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Reflection framework</a:t>
            </a:r>
            <a:pPr algn="l" indent="0" marL="0">
              <a:lnSpc>
                <a:spcPct val="104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 — Deng, Viganò &amp; Hauser (2025). Smart Automated Questions, Less Risks: Using LLMs to Foster Ethical &amp; Social Awareness in Data-Related Projects. (HIEDE → HERA; multi-agent → RLM.)</a:t>
            </a:r>
            <a:endParaRPr lang="en-US" sz="1100" dirty="0"/>
          </a:p>
          <a:p>
            <a:pPr algn="l" indent="0" marL="0">
              <a:lnSpc>
                <a:spcPct val="104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Reflexion</a:t>
            </a:r>
            <a:pPr algn="l" indent="0" marL="0">
              <a:lnSpc>
                <a:spcPct val="104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 — Shinn, N. et al. (2023). Reflexion: Language Agents with Verbal Reinforcement Learning. NeurIPS 36.</a:t>
            </a:r>
            <a:endParaRPr lang="en-US" sz="1100" dirty="0"/>
          </a:p>
          <a:p>
            <a:pPr algn="l" indent="0" marL="0">
              <a:lnSpc>
                <a:spcPct val="104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Self-Refine</a:t>
            </a:r>
            <a:pPr algn="l" indent="0" marL="0">
              <a:lnSpc>
                <a:spcPct val="104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 — Madaan, A. et al. (2023). Self-Refine: Iterative Refinement with Self-Feedback. NeurIPS 36.</a:t>
            </a:r>
            <a:endParaRPr lang="en-US" sz="1100" dirty="0"/>
          </a:p>
          <a:p>
            <a:pPr algn="l" indent="0" marL="0">
              <a:lnSpc>
                <a:spcPct val="104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LoRA</a:t>
            </a:r>
            <a:pPr algn="l" indent="0" marL="0">
              <a:lnSpc>
                <a:spcPct val="104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 — Hu, E. et al. (2022). LoRA: Low-Rank Adaptation of Large Language Models. ICLR.</a:t>
            </a:r>
            <a:endParaRPr lang="en-US" sz="1100" dirty="0"/>
          </a:p>
          <a:p>
            <a:pPr algn="l" indent="0" marL="0">
              <a:lnSpc>
                <a:spcPct val="104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QLoRA</a:t>
            </a:r>
            <a:pPr algn="l" indent="0" marL="0">
              <a:lnSpc>
                <a:spcPct val="104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 — Dettmers, T. et al. (2023). QLoRA: Efficient Finetuning of Quantized LLMs. NeurIPS 36.</a:t>
            </a:r>
            <a:endParaRPr lang="en-US" sz="1100" dirty="0"/>
          </a:p>
          <a:p>
            <a:pPr algn="l" indent="0" marL="0">
              <a:lnSpc>
                <a:spcPct val="104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Qwen3</a:t>
            </a:r>
            <a:pPr algn="l" indent="0" marL="0">
              <a:lnSpc>
                <a:spcPct val="104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 — Qwen Team (2025). Qwen3 Technical Report. arXiv:2505.09388.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263640" y="10972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41428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HERA foundations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63640" y="1481328"/>
            <a:ext cx="54406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DTX Risk Canvas</a:t>
            </a:r>
            <a:pPr algn="l" indent="0" marL="0">
              <a:lnSpc>
                <a:spcPct val="104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 — Denecke, K. et al. (2023). Digital Therapeutics Risk Assessment Canvas.</a:t>
            </a:r>
            <a:endParaRPr lang="en-US" sz="1100" dirty="0"/>
          </a:p>
          <a:p>
            <a:pPr algn="l" indent="0" marL="0">
              <a:lnSpc>
                <a:spcPct val="104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WHO</a:t>
            </a:r>
            <a:pPr algn="l" indent="0" marL="0">
              <a:lnSpc>
                <a:spcPct val="104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 (2024). Ethics &amp; Governance of AI for Health: Large Multi-Modal Models.</a:t>
            </a:r>
            <a:endParaRPr lang="en-US" sz="1100" dirty="0"/>
          </a:p>
          <a:p>
            <a:pPr algn="l" indent="0" marL="0">
              <a:lnSpc>
                <a:spcPct val="104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EU AI Act</a:t>
            </a:r>
            <a:pPr algn="l" indent="0" marL="0">
              <a:lnSpc>
                <a:spcPct val="104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 — Regulation (EU) 2024/1689.</a:t>
            </a:r>
            <a:endParaRPr lang="en-US" sz="1100" dirty="0"/>
          </a:p>
          <a:p>
            <a:pPr algn="l" indent="0" marL="0">
              <a:lnSpc>
                <a:spcPct val="104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EU MDR</a:t>
            </a:r>
            <a:pPr algn="l" indent="0" marL="0">
              <a:lnSpc>
                <a:spcPct val="104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 — Regulation (EU) 2017/745 (Medical Devices).</a:t>
            </a:r>
            <a:endParaRPr lang="en-US" sz="1100" dirty="0"/>
          </a:p>
          <a:p>
            <a:pPr algn="l" indent="0" marL="0">
              <a:lnSpc>
                <a:spcPct val="104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GDPR</a:t>
            </a:r>
            <a:pPr algn="l" indent="0" marL="0">
              <a:lnSpc>
                <a:spcPct val="104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 — Regulation (EU) 2016/679.</a:t>
            </a:r>
            <a:endParaRPr lang="en-US" sz="1100" dirty="0"/>
          </a:p>
          <a:p>
            <a:pPr algn="l" indent="0" marL="0">
              <a:lnSpc>
                <a:spcPct val="104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ISO/TS 82304-2</a:t>
            </a:r>
            <a:pPr algn="l" indent="0" marL="0">
              <a:lnSpc>
                <a:spcPct val="104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 (2021). Health &amp; wellness apps — Quality &amp; reliability.</a:t>
            </a:r>
            <a:endParaRPr lang="en-US" sz="1100" dirty="0"/>
          </a:p>
          <a:p>
            <a:pPr algn="l" indent="0" marL="0">
              <a:lnSpc>
                <a:spcPct val="104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Beauchamp &amp; Childress</a:t>
            </a:r>
            <a:pPr algn="l" indent="0" marL="0">
              <a:lnSpc>
                <a:spcPct val="104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 (2019). Principles of Biomedical Ethics (8th ed.).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HERA · Risk &amp; Safety Copilot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HERA — Risk &amp; Safety Copilot</dc:title>
  <dc:subject>PptxGenJS Presentation</dc:subject>
  <dc:creator>Nathan Massicot</dc:creator>
  <cp:lastModifiedBy>Nathan Massicot</cp:lastModifiedBy>
  <cp:revision>1</cp:revision>
  <dcterms:created xsi:type="dcterms:W3CDTF">2026-06-09T07:02:35Z</dcterms:created>
  <dcterms:modified xsi:type="dcterms:W3CDTF">2026-06-09T07:02:35Z</dcterms:modified>
</cp:coreProperties>
</file>