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9659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Risk &amp; Safety Copilot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37673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2F0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Santé numérique · mHealth</a:t>
            </a:r>
            <a:endParaRPr lang="en-US" sz="1400" dirty="0"/>
          </a:p>
        </p:txBody>
      </p:sp>
      <p:pic>
        <p:nvPicPr>
          <p:cNvPr id="6" name="Image 0" descr="/sessions/cool-gracious-goodall/mnt/outputs/hera_pres/bf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7035" y="502920"/>
            <a:ext cx="3288411" cy="1143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00600" y="2331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 copilote conversationnel qui aide les développeurs d'applications de santé à identifier les risques éthiques et réglementaires — et à les corriger tôt.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00600" y="406908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Nathan Massicot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MSE Data Science — Berner Fachhochschule (BFH)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Encadrante : Prof. Dr. Kerstin Denecke</a:t>
            </a:r>
            <a:endParaRPr lang="en-US" sz="16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Projet de spécialisation 2 · Juin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Une app de santé doit composer avec des dizaines de règles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Dès qu'une application touche à la santé, elle entre dans un labyrinthe de cadres : protection des données, dispositifs médicaux, intelligence artificielle, accessibilité…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Ces cadres se chevauchent, évoluent vite, et changent d'un pays à l'autre (UE, Suisse, Royaume-Uni…).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466344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10+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331720" y="46634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cadres réglementaires possibles pour une seule application de santé</a:t>
            </a:r>
            <a:endParaRPr lang="en-US" sz="1500" dirty="0"/>
          </a:p>
        </p:txBody>
      </p:sp>
      <p:pic>
        <p:nvPicPr>
          <p:cNvPr id="8" name="Image 0" descr="/sessions/cool-gracious-goodall/mnt/outputs/hera_pres/complex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133315"/>
            <a:ext cx="5852160" cy="34143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Et ces risques sont souvent repérés trop tard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11296" cy="146304"/>
          </a:xfrm>
          <a:prstGeom prst="rect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Pas l'expertise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Les développeurs ne sont ni juristes ni éthiciens : difficile de savoir ce qui s'applique vraiment.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508760"/>
            <a:ext cx="3511296" cy="146304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Trop tard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Les risques sont découverts après le lancement — coûteux à corriger, et parfois dangereux pour les patients.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508760"/>
            <a:ext cx="3511296" cy="146304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6596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Pas d'outil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75904" y="2743200"/>
            <a:ext cx="2962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Aucun outil ne guide la réflexion en amont, de façon structurée et complète.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  </a:t>
            </a:r>
            <a:pPr algn="ctr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D'où l'idée d'un copilote qui pose les bonnes questions, dès la conception.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Sommaire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58368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682496"/>
            <a:ext cx="585216" cy="585216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6824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23160" y="155448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Problématique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523744"/>
            <a:ext cx="708660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2651760"/>
            <a:ext cx="585216" cy="585216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23160" y="2523744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pourquoi &amp; comment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3493008"/>
            <a:ext cx="758952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2768" y="3621024"/>
            <a:ext cx="585216" cy="585216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36210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23160" y="3493008"/>
            <a:ext cx="6400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Approches, tests &amp; résultats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462272"/>
            <a:ext cx="809244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2768" y="4590288"/>
            <a:ext cx="585216" cy="585216"/>
          </a:xfrm>
          <a:prstGeom prst="ellipse">
            <a:avLst/>
          </a:prstGeom>
          <a:solidFill>
            <a:srgbClr val="645078"/>
          </a:solidFill>
          <a:ln w="12700">
            <a:solidFill>
              <a:srgbClr val="6450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72768" y="45902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23160" y="4462272"/>
            <a:ext cx="6903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Ce qu'on a gardé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371600" y="5431536"/>
            <a:ext cx="8595360" cy="841248"/>
          </a:xfrm>
          <a:prstGeom prst="roundRect">
            <a:avLst>
              <a:gd name="adj" fmla="val 10870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2768" y="5559552"/>
            <a:ext cx="585216" cy="585216"/>
          </a:xfrm>
          <a:prstGeom prst="ellipse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2768" y="5559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423160" y="5431536"/>
            <a:ext cx="7406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Démo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pourquoi une nouvelle taxonomie 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Les bons référentiels existent déjà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…mais ils sont éparpillés et écrits pour des experts. Aucun n'est pensé pour accompagner, pas à pas, un développeur d'app santé.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Notre réponse : HERA</a:t>
            </a:r>
            <a:endParaRPr lang="en-US" sz="18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Une taxonomie qui fusionne plus de 8 cadres en une seule structure, claire et actionnable — valable avec ou sans IA.</a:t>
            </a:r>
            <a:endParaRPr lang="en-US" sz="1800" dirty="0"/>
          </a:p>
        </p:txBody>
      </p:sp>
      <p:pic>
        <p:nvPicPr>
          <p:cNvPr id="5" name="Image 0" descr="/sessions/cool-gracious-goodall/mnt/outputs/hera_pres/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35743"/>
            <a:ext cx="5486400" cy="36094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— comment ça marche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 piliers, 37 dimensions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sécurité du patient, données &amp; vie privée, autonomie, qualité, transparence, équité, et conformité réglementaire.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4436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Pour chaque dimension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419856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des questions de réflexion, les risques typiques, et des pistes concrètes de mitigation.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471416"/>
            <a:ext cx="91440" cy="114300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4256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Une conversation guidée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4901184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 copilote pose une question à la fois, écoute, creuse, puis génère un rapport de risques structuré.</a:t>
            </a:r>
            <a:endParaRPr lang="en-US" sz="1550" dirty="0"/>
          </a:p>
        </p:txBody>
      </p:sp>
      <p:pic>
        <p:nvPicPr>
          <p:cNvPr id="13" name="Image 0" descr="/sessions/cool-gracious-goodall/mnt/outputs/hera_pres/pill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7126" y="914400"/>
            <a:ext cx="4619549" cy="5486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Quatre façons de construire le copilote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1024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Même taxonomie HERA, même petit modèle local — quatre architectures comparées.</a:t>
            </a:r>
            <a:endParaRPr lang="en-US" sz="1500" dirty="0"/>
          </a:p>
        </p:txBody>
      </p:sp>
      <p:pic>
        <p:nvPicPr>
          <p:cNvPr id="5" name="Image 0" descr="/sessions/cool-gracious-goodall/mnt/outputs/hera_pr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980" y="1508760"/>
            <a:ext cx="8766993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Comment on a comparé les approches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148840"/>
            <a:ext cx="768096" cy="768096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961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25 scénarios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des apps santé réalistes, avec une « bonne réponse » écrite à la main.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8211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34256" y="2148840"/>
            <a:ext cx="768096" cy="768096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9300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55645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Développeur simulé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444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il répond à l'identique pour toutes les approches → comparaison équitable.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1675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68896" y="2148840"/>
            <a:ext cx="768096" cy="768096"/>
          </a:xfrm>
          <a:prstGeom prst="ellipse">
            <a:avLst/>
          </a:prstGeom>
          <a:solidFill>
            <a:srgbClr val="645078"/>
          </a:solidFill>
          <a:ln w="12700">
            <a:solidFill>
              <a:srgbClr val="6450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889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2764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64507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Mesures auto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1908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couverture des dimensions, exactitude des risques, latence.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51392" y="1828800"/>
            <a:ext cx="2377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03536" y="2148840"/>
            <a:ext cx="768096" cy="768096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03536" y="21488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162288" y="310896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Juge IA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253728" y="3611880"/>
            <a:ext cx="2267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note la profondeur et l'actionnabilité des réponses (1–5).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4924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Principe : </a:t>
            </a:r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toutes les approches reçoivent exactement les mêmes entrées — on ne compare que la façon de raisonner.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Résultats : le RAG l'emporte, le fine-tuning s'effondre</a:t>
            </a:r>
            <a:endParaRPr lang="en-US" sz="2500" dirty="0"/>
          </a:p>
        </p:txBody>
      </p:sp>
      <p:pic>
        <p:nvPicPr>
          <p:cNvPr id="4" name="Image 0" descr="/sessions/cool-gracious-goodall/mnt/outputs/hera_pres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50156"/>
            <a:ext cx="7772400" cy="32892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417320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58200" y="1417320"/>
            <a:ext cx="109728" cy="1508760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14232" y="15636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714232" y="20208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meilleure profondeur (3,0/5) et meilleure couverture (36 %).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58200" y="3090672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58200" y="3090672"/>
            <a:ext cx="109728" cy="1508760"/>
          </a:xfrm>
          <a:prstGeom prst="rect">
            <a:avLst/>
          </a:prstGeom>
          <a:solidFill>
            <a:srgbClr val="786450"/>
          </a:solidFill>
          <a:ln w="12700">
            <a:solidFill>
              <a:srgbClr val="7864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4232" y="32369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645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Fine-tuned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714232" y="369417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s'effondre : répète les mêmes questions, invente des références.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58200" y="4764024"/>
            <a:ext cx="32004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58200" y="4764024"/>
            <a:ext cx="109728" cy="1508760"/>
          </a:xfrm>
          <a:prstGeom prst="rect">
            <a:avLst/>
          </a:prstGeom>
          <a:solidFill>
            <a:srgbClr val="697D91"/>
          </a:solidFill>
          <a:ln w="12700">
            <a:solidFill>
              <a:srgbClr val="697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14232" y="49103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97D91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Prompt-only / RLM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14232" y="53675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prompt-only rapide et solide ; multi-agents 2× plus lent, sans gain net.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Ce qu'on a gardé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511296" cy="146304"/>
          </a:xfrm>
          <a:prstGeom prst="rect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 copilote RAG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 meilleure qualité ; il s'appuie sur les textes réglementaires. Prompt-only sert de repli rapide.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25112" y="1508760"/>
            <a:ext cx="3511296" cy="146304"/>
          </a:xfrm>
          <a:prstGeom prst="rect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06E9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Web app en 3 pages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99432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profil de l'app (onboarding), diagramme réglementaire interactif, et chatbot HERA.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11296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508760"/>
            <a:ext cx="3511296" cy="146304"/>
          </a:xfrm>
          <a:prstGeom prst="rect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96596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5645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100 % local &amp; privé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75904" y="28803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modèle exécuté en local via Ollama ; aucune donnée envoyée à un service externe.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EF1F4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32120"/>
            <a:ext cx="11091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1428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Écarté : </a:t>
            </a:r>
            <a:pPr algn="ctr"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 fine-tuning seul (trop peu de données) et le multi-agents (trop lent pour le gain).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· Risk &amp; Safety Copilot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651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Démo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800600" y="1417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Le copilote HERA en action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800600" y="2377440"/>
            <a:ext cx="713232" cy="713232"/>
          </a:xfrm>
          <a:prstGeom prst="ellipse">
            <a:avLst/>
          </a:prstGeom>
          <a:solidFill>
            <a:srgbClr val="506E96"/>
          </a:solidFill>
          <a:ln w="12700">
            <a:solidFill>
              <a:srgbClr val="506E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237744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715000" y="23774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Onboarding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décrire l'application de santé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3456432"/>
            <a:ext cx="713232" cy="713232"/>
          </a:xfrm>
          <a:prstGeom prst="ellipse">
            <a:avLst/>
          </a:prstGeom>
          <a:solidFill>
            <a:srgbClr val="556455"/>
          </a:solidFill>
          <a:ln w="12700">
            <a:solidFill>
              <a:srgbClr val="5564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34564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715000" y="34564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Conversation guidée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le copilote pose ses questions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00600" y="4535424"/>
            <a:ext cx="713232" cy="713232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45354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15000" y="453542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Rapport de risques  </a:t>
            </a:r>
            <a:pPr algn="l" indent="0" marL="0">
              <a:buNone/>
            </a:pPr>
            <a:r>
              <a:rPr lang="en-US" sz="17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— synthèse mappée sur HERA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0060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Application web locale · modèle Mistral 7B via Ollama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55448" cy="155448"/>
          </a:xfrm>
          <a:prstGeom prst="rect">
            <a:avLst/>
          </a:prstGeom>
          <a:solidFill>
            <a:srgbClr val="FAC300"/>
          </a:solidFill>
          <a:ln w="12700">
            <a:solidFill>
              <a:srgbClr val="FAC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31089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Ce qu'il faut retenir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HERA unifie plus de 8 cadres en une taxonomie actionnable pour la santé numérique.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76856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76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Comparaison rigoureuse de 4 approches sur 25 scénarios → le RAG est le plus utile.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B41428"/>
          </a:solidFill>
          <a:ln w="12700">
            <a:solidFill>
              <a:srgbClr val="B41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09981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Un prototype local, privé et démontrable de bout en bout.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972800" cy="18288"/>
          </a:xfrm>
          <a:prstGeom prst="rect">
            <a:avLst/>
          </a:prstGeom>
          <a:solidFill>
            <a:srgbClr val="E0E4E8"/>
          </a:solidFill>
          <a:ln w="12700">
            <a:solidFill>
              <a:srgbClr val="E0E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89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Merci ! Questions ?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Nathan Massicot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A6B77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MSE Data Science, BFH  ·  Encadrante : Prof. Dr. Kerstin Denecke</a:t>
            </a:r>
            <a:endParaRPr lang="en-US" sz="1400" dirty="0"/>
          </a:p>
        </p:txBody>
      </p:sp>
      <p:pic>
        <p:nvPicPr>
          <p:cNvPr id="16" name="Image 0" descr="/sessions/cool-gracious-goodall/mnt/outputs/hera_pres/bf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036" y="5440680"/>
            <a:ext cx="2630729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HERA — Risk &amp; Safety Copilot</dc:title>
  <dc:subject>PptxGenJS Presentation</dc:subject>
  <dc:creator>Nathan Massicot</dc:creator>
  <cp:lastModifiedBy>Nathan Massicot</cp:lastModifiedBy>
  <cp:revision>1</cp:revision>
  <dcterms:created xsi:type="dcterms:W3CDTF">2026-06-08T19:59:12Z</dcterms:created>
  <dcterms:modified xsi:type="dcterms:W3CDTF">2026-06-08T19:59:12Z</dcterms:modified>
</cp:coreProperties>
</file>